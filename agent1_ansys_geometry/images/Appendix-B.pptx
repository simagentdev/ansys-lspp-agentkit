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3" r:id="rId2"/>
    <p:sldId id="256" r:id="rId3"/>
    <p:sldId id="278" r:id="rId4"/>
    <p:sldId id="274" r:id="rId5"/>
    <p:sldId id="275" r:id="rId6"/>
    <p:sldId id="276" r:id="rId7"/>
    <p:sldId id="277" r:id="rId8"/>
  </p:sldIdLst>
  <p:sldSz cx="5940425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33" autoAdjust="0"/>
    <p:restoredTop sz="94660"/>
  </p:normalViewPr>
  <p:slideViewPr>
    <p:cSldViewPr snapToGrid="0">
      <p:cViewPr varScale="1">
        <p:scale>
          <a:sx n="141" d="100"/>
          <a:sy n="141" d="100"/>
        </p:scale>
        <p:origin x="126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532" y="1531818"/>
            <a:ext cx="5049361" cy="3258632"/>
          </a:xfrm>
        </p:spPr>
        <p:txBody>
          <a:bodyPr anchor="b"/>
          <a:lstStyle>
            <a:lvl1pPr algn="ctr">
              <a:defRPr sz="38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553" y="4916115"/>
            <a:ext cx="4455319" cy="2259809"/>
          </a:xfrm>
        </p:spPr>
        <p:txBody>
          <a:bodyPr/>
          <a:lstStyle>
            <a:lvl1pPr marL="0" indent="0" algn="ctr">
              <a:buNone/>
              <a:defRPr sz="1559"/>
            </a:lvl1pPr>
            <a:lvl2pPr marL="297043" indent="0" algn="ctr">
              <a:buNone/>
              <a:defRPr sz="1299"/>
            </a:lvl2pPr>
            <a:lvl3pPr marL="594086" indent="0" algn="ctr">
              <a:buNone/>
              <a:defRPr sz="1169"/>
            </a:lvl3pPr>
            <a:lvl4pPr marL="891129" indent="0" algn="ctr">
              <a:buNone/>
              <a:defRPr sz="1040"/>
            </a:lvl4pPr>
            <a:lvl5pPr marL="1188171" indent="0" algn="ctr">
              <a:buNone/>
              <a:defRPr sz="1040"/>
            </a:lvl5pPr>
            <a:lvl6pPr marL="1485214" indent="0" algn="ctr">
              <a:buNone/>
              <a:defRPr sz="1040"/>
            </a:lvl6pPr>
            <a:lvl7pPr marL="1782257" indent="0" algn="ctr">
              <a:buNone/>
              <a:defRPr sz="1040"/>
            </a:lvl7pPr>
            <a:lvl8pPr marL="2079300" indent="0" algn="ctr">
              <a:buNone/>
              <a:defRPr sz="1040"/>
            </a:lvl8pPr>
            <a:lvl9pPr marL="2376343" indent="0" algn="ctr">
              <a:buNone/>
              <a:defRPr sz="10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EA16-E3D5-4263-896A-07054D45B2E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FC01-46CE-433A-8BAE-E072965D2E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110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EA16-E3D5-4263-896A-07054D45B2E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FC01-46CE-433A-8BAE-E072965D2E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51428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310" y="2333478"/>
            <a:ext cx="5123617" cy="3893458"/>
          </a:xfrm>
        </p:spPr>
        <p:txBody>
          <a:bodyPr anchor="b"/>
          <a:lstStyle>
            <a:lvl1pPr>
              <a:defRPr sz="389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310" y="6263769"/>
            <a:ext cx="5123617" cy="2047477"/>
          </a:xfrm>
        </p:spPr>
        <p:txBody>
          <a:bodyPr/>
          <a:lstStyle>
            <a:lvl1pPr marL="0" indent="0">
              <a:buNone/>
              <a:defRPr sz="1559">
                <a:solidFill>
                  <a:schemeClr val="tx1"/>
                </a:solidFill>
              </a:defRPr>
            </a:lvl1pPr>
            <a:lvl2pPr marL="297043" indent="0">
              <a:buNone/>
              <a:defRPr sz="1299">
                <a:solidFill>
                  <a:schemeClr val="tx1">
                    <a:tint val="75000"/>
                  </a:schemeClr>
                </a:solidFill>
              </a:defRPr>
            </a:lvl2pPr>
            <a:lvl3pPr marL="594086" indent="0">
              <a:buNone/>
              <a:defRPr sz="1169">
                <a:solidFill>
                  <a:schemeClr val="tx1">
                    <a:tint val="75000"/>
                  </a:schemeClr>
                </a:solidFill>
              </a:defRPr>
            </a:lvl3pPr>
            <a:lvl4pPr marL="891129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4pPr>
            <a:lvl5pPr marL="1188171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5pPr>
            <a:lvl6pPr marL="1485214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6pPr>
            <a:lvl7pPr marL="1782257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7pPr>
            <a:lvl8pPr marL="2079300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8pPr>
            <a:lvl9pPr marL="2376343" indent="0">
              <a:buNone/>
              <a:defRPr sz="10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EA16-E3D5-4263-896A-07054D45B2E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FC01-46CE-433A-8BAE-E072965D2E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4308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404" y="2491640"/>
            <a:ext cx="2524681" cy="59387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7340" y="2491640"/>
            <a:ext cx="2524681" cy="593877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EA16-E3D5-4263-896A-07054D45B2E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FC01-46CE-433A-8BAE-E072965D2E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606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498330"/>
            <a:ext cx="5123617" cy="180914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179" y="2294476"/>
            <a:ext cx="2513078" cy="112448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179" y="3418964"/>
            <a:ext cx="2513078" cy="50287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7341" y="2294476"/>
            <a:ext cx="2525454" cy="1124487"/>
          </a:xfrm>
        </p:spPr>
        <p:txBody>
          <a:bodyPr anchor="b"/>
          <a:lstStyle>
            <a:lvl1pPr marL="0" indent="0">
              <a:buNone/>
              <a:defRPr sz="1559" b="1"/>
            </a:lvl1pPr>
            <a:lvl2pPr marL="297043" indent="0">
              <a:buNone/>
              <a:defRPr sz="1299" b="1"/>
            </a:lvl2pPr>
            <a:lvl3pPr marL="594086" indent="0">
              <a:buNone/>
              <a:defRPr sz="1169" b="1"/>
            </a:lvl3pPr>
            <a:lvl4pPr marL="891129" indent="0">
              <a:buNone/>
              <a:defRPr sz="1040" b="1"/>
            </a:lvl4pPr>
            <a:lvl5pPr marL="1188171" indent="0">
              <a:buNone/>
              <a:defRPr sz="1040" b="1"/>
            </a:lvl5pPr>
            <a:lvl6pPr marL="1485214" indent="0">
              <a:buNone/>
              <a:defRPr sz="1040" b="1"/>
            </a:lvl6pPr>
            <a:lvl7pPr marL="1782257" indent="0">
              <a:buNone/>
              <a:defRPr sz="1040" b="1"/>
            </a:lvl7pPr>
            <a:lvl8pPr marL="2079300" indent="0">
              <a:buNone/>
              <a:defRPr sz="1040" b="1"/>
            </a:lvl8pPr>
            <a:lvl9pPr marL="2376343" indent="0">
              <a:buNone/>
              <a:defRPr sz="10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7341" y="3418964"/>
            <a:ext cx="2525454" cy="502878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EA16-E3D5-4263-896A-07054D45B2E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FC01-46CE-433A-8BAE-E072965D2E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497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EA16-E3D5-4263-896A-07054D45B2E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FC01-46CE-433A-8BAE-E072965D2E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436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EA16-E3D5-4263-896A-07054D45B2E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FC01-46CE-433A-8BAE-E072965D2E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70912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623993"/>
            <a:ext cx="1915942" cy="2183977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54" y="1347654"/>
            <a:ext cx="3007340" cy="6651596"/>
          </a:xfrm>
        </p:spPr>
        <p:txBody>
          <a:bodyPr/>
          <a:lstStyle>
            <a:lvl1pPr>
              <a:defRPr sz="2079"/>
            </a:lvl1pPr>
            <a:lvl2pPr>
              <a:defRPr sz="1819"/>
            </a:lvl2pPr>
            <a:lvl3pPr>
              <a:defRPr sz="1559"/>
            </a:lvl3pPr>
            <a:lvl4pPr>
              <a:defRPr sz="1299"/>
            </a:lvl4pPr>
            <a:lvl5pPr>
              <a:defRPr sz="1299"/>
            </a:lvl5pPr>
            <a:lvl6pPr>
              <a:defRPr sz="1299"/>
            </a:lvl6pPr>
            <a:lvl7pPr>
              <a:defRPr sz="1299"/>
            </a:lvl7pPr>
            <a:lvl8pPr>
              <a:defRPr sz="1299"/>
            </a:lvl8pPr>
            <a:lvl9pPr>
              <a:defRPr sz="129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2807970"/>
            <a:ext cx="1915942" cy="5202112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EA16-E3D5-4263-896A-07054D45B2E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FC01-46CE-433A-8BAE-E072965D2E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309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178" y="623993"/>
            <a:ext cx="1915942" cy="2183977"/>
          </a:xfrm>
        </p:spPr>
        <p:txBody>
          <a:bodyPr anchor="b"/>
          <a:lstStyle>
            <a:lvl1pPr>
              <a:defRPr sz="207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5454" y="1347654"/>
            <a:ext cx="3007340" cy="6651596"/>
          </a:xfrm>
        </p:spPr>
        <p:txBody>
          <a:bodyPr anchor="t"/>
          <a:lstStyle>
            <a:lvl1pPr marL="0" indent="0">
              <a:buNone/>
              <a:defRPr sz="2079"/>
            </a:lvl1pPr>
            <a:lvl2pPr marL="297043" indent="0">
              <a:buNone/>
              <a:defRPr sz="1819"/>
            </a:lvl2pPr>
            <a:lvl3pPr marL="594086" indent="0">
              <a:buNone/>
              <a:defRPr sz="1559"/>
            </a:lvl3pPr>
            <a:lvl4pPr marL="891129" indent="0">
              <a:buNone/>
              <a:defRPr sz="1299"/>
            </a:lvl4pPr>
            <a:lvl5pPr marL="1188171" indent="0">
              <a:buNone/>
              <a:defRPr sz="1299"/>
            </a:lvl5pPr>
            <a:lvl6pPr marL="1485214" indent="0">
              <a:buNone/>
              <a:defRPr sz="1299"/>
            </a:lvl6pPr>
            <a:lvl7pPr marL="1782257" indent="0">
              <a:buNone/>
              <a:defRPr sz="1299"/>
            </a:lvl7pPr>
            <a:lvl8pPr marL="2079300" indent="0">
              <a:buNone/>
              <a:defRPr sz="1299"/>
            </a:lvl8pPr>
            <a:lvl9pPr marL="2376343" indent="0">
              <a:buNone/>
              <a:defRPr sz="129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178" y="2807970"/>
            <a:ext cx="1915942" cy="5202112"/>
          </a:xfrm>
        </p:spPr>
        <p:txBody>
          <a:bodyPr/>
          <a:lstStyle>
            <a:lvl1pPr marL="0" indent="0">
              <a:buNone/>
              <a:defRPr sz="1040"/>
            </a:lvl1pPr>
            <a:lvl2pPr marL="297043" indent="0">
              <a:buNone/>
              <a:defRPr sz="910"/>
            </a:lvl2pPr>
            <a:lvl3pPr marL="594086" indent="0">
              <a:buNone/>
              <a:defRPr sz="780"/>
            </a:lvl3pPr>
            <a:lvl4pPr marL="891129" indent="0">
              <a:buNone/>
              <a:defRPr sz="650"/>
            </a:lvl4pPr>
            <a:lvl5pPr marL="1188171" indent="0">
              <a:buNone/>
              <a:defRPr sz="650"/>
            </a:lvl5pPr>
            <a:lvl6pPr marL="1485214" indent="0">
              <a:buNone/>
              <a:defRPr sz="650"/>
            </a:lvl6pPr>
            <a:lvl7pPr marL="1782257" indent="0">
              <a:buNone/>
              <a:defRPr sz="650"/>
            </a:lvl7pPr>
            <a:lvl8pPr marL="2079300" indent="0">
              <a:buNone/>
              <a:defRPr sz="650"/>
            </a:lvl8pPr>
            <a:lvl9pPr marL="2376343" indent="0">
              <a:buNone/>
              <a:defRPr sz="6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EA16-E3D5-4263-896A-07054D45B2E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FC01-46CE-433A-8BAE-E072965D2E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388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EA16-E3D5-4263-896A-07054D45B2E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FC01-46CE-433A-8BAE-E072965D2E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476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1117" y="498328"/>
            <a:ext cx="1280904" cy="793208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405" y="498328"/>
            <a:ext cx="3768457" cy="793208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3EA16-E3D5-4263-896A-07054D45B2E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FFC01-46CE-433A-8BAE-E072965D2E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7794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404" y="498330"/>
            <a:ext cx="5123617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404" y="2491640"/>
            <a:ext cx="5123617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404" y="8675243"/>
            <a:ext cx="1336596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C3EA16-E3D5-4263-896A-07054D45B2E5}" type="datetimeFigureOut">
              <a:rPr lang="zh-CN" altLang="en-US" smtClean="0"/>
              <a:t>2026/6/1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7766" y="8675243"/>
            <a:ext cx="2004893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5425" y="8675243"/>
            <a:ext cx="1336596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FFC01-46CE-433A-8BAE-E072965D2E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9069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94086" rtl="0" eaLnBrk="1" latinLnBrk="0" hangingPunct="1">
        <a:lnSpc>
          <a:spcPct val="90000"/>
        </a:lnSpc>
        <a:spcBef>
          <a:spcPct val="0"/>
        </a:spcBef>
        <a:buNone/>
        <a:defRPr sz="2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21" indent="-148521" algn="l" defTabSz="594086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19" kern="1200">
          <a:solidFill>
            <a:schemeClr val="tx1"/>
          </a:solidFill>
          <a:latin typeface="+mn-lt"/>
          <a:ea typeface="+mn-ea"/>
          <a:cs typeface="+mn-cs"/>
        </a:defRPr>
      </a:lvl1pPr>
      <a:lvl2pPr marL="4455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42607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299" kern="1200">
          <a:solidFill>
            <a:schemeClr val="tx1"/>
          </a:solidFill>
          <a:latin typeface="+mn-lt"/>
          <a:ea typeface="+mn-ea"/>
          <a:cs typeface="+mn-cs"/>
        </a:defRPr>
      </a:lvl3pPr>
      <a:lvl4pPr marL="1039650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336693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633736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930778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227821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524864" indent="-148521" algn="l" defTabSz="594086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1pPr>
      <a:lvl2pPr marL="2970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94086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3pPr>
      <a:lvl4pPr marL="891129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4pPr>
      <a:lvl5pPr marL="1188171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5pPr>
      <a:lvl6pPr marL="1485214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6pPr>
      <a:lvl7pPr marL="1782257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7pPr>
      <a:lvl8pPr marL="2079300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8pPr>
      <a:lvl9pPr marL="2376343" algn="l" defTabSz="594086" rtl="0" eaLnBrk="1" latinLnBrk="0" hangingPunct="1">
        <a:defRPr sz="11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3C7CF5ED-DF1A-D89B-E93C-ED66FBEF2073}"/>
              </a:ext>
            </a:extLst>
          </p:cNvPr>
          <p:cNvGrpSpPr/>
          <p:nvPr/>
        </p:nvGrpSpPr>
        <p:grpSpPr>
          <a:xfrm>
            <a:off x="352316" y="121362"/>
            <a:ext cx="5235792" cy="1014018"/>
            <a:chOff x="352316" y="121362"/>
            <a:chExt cx="5235792" cy="1014018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6D8F41D6-47A6-7034-AA4A-606279E22AA7}"/>
                </a:ext>
              </a:extLst>
            </p:cNvPr>
            <p:cNvSpPr/>
            <p:nvPr/>
          </p:nvSpPr>
          <p:spPr>
            <a:xfrm>
              <a:off x="352316" y="121362"/>
              <a:ext cx="5235792" cy="10140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DEF40EC-C4E1-5EC0-9031-CC37D3F63925}"/>
                </a:ext>
              </a:extLst>
            </p:cNvPr>
            <p:cNvSpPr txBox="1"/>
            <p:nvPr/>
          </p:nvSpPr>
          <p:spPr>
            <a:xfrm>
              <a:off x="422114" y="121362"/>
              <a:ext cx="1848012" cy="382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zh-CN" altLang="en-US" sz="1400" dirty="0"/>
                <a:t>🛠️ 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System Prompt:</a:t>
              </a:r>
              <a:r>
                <a:rPr lang="en-US" altLang="zh-CN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 </a:t>
              </a:r>
              <a:endParaRPr lang="en-US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610ED953-A371-997D-A189-3853D5EF378F}"/>
                </a:ext>
              </a:extLst>
            </p:cNvPr>
            <p:cNvSpPr txBox="1"/>
            <p:nvPr/>
          </p:nvSpPr>
          <p:spPr>
            <a:xfrm>
              <a:off x="441163" y="499239"/>
              <a:ext cx="4987454" cy="5770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Role: </a:t>
              </a:r>
              <a:r>
                <a:rPr lang="en-US" altLang="zh-CN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You are an expert APDL Code Generator for barrier modeling.</a:t>
              </a:r>
            </a:p>
            <a:p>
              <a:pPr>
                <a:buNone/>
              </a:pPr>
              <a:r>
                <a:rPr lang="en-US" altLang="zh-CN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Task: </a:t>
              </a:r>
              <a:r>
                <a:rPr lang="en-US" altLang="zh-CN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Generate correct, complete, and executable APDL code based on user descriptions.</a:t>
              </a:r>
            </a:p>
            <a:p>
              <a:pPr>
                <a:buNone/>
              </a:pPr>
              <a:r>
                <a:rPr lang="en-US" altLang="zh-CN" sz="105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Focus: </a:t>
              </a:r>
              <a:r>
                <a:rPr lang="en-US" altLang="zh-CN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Accurate geometric modeling &amp; reinforcement arrangement.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189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ED4E2A64-2E5F-3374-4789-138281F53372}"/>
              </a:ext>
            </a:extLst>
          </p:cNvPr>
          <p:cNvGrpSpPr/>
          <p:nvPr/>
        </p:nvGrpSpPr>
        <p:grpSpPr>
          <a:xfrm>
            <a:off x="114087" y="1708817"/>
            <a:ext cx="5712250" cy="7547451"/>
            <a:chOff x="82442" y="1598507"/>
            <a:chExt cx="5235792" cy="6917918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AC2C8437-E19F-A6A0-528A-640C6F8DE370}"/>
                </a:ext>
              </a:extLst>
            </p:cNvPr>
            <p:cNvSpPr/>
            <p:nvPr/>
          </p:nvSpPr>
          <p:spPr>
            <a:xfrm>
              <a:off x="82442" y="1598507"/>
              <a:ext cx="5235792" cy="6917917"/>
            </a:xfrm>
            <a:prstGeom prst="rect">
              <a:avLst/>
            </a:prstGeom>
            <a:solidFill>
              <a:srgbClr val="EAF2FA">
                <a:alpha val="98000"/>
              </a:srgbClr>
            </a:solidFill>
            <a:ln>
              <a:solidFill>
                <a:srgbClr val="EAF2F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64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2124D4A1-601B-A9B3-3CFB-BFBA97F7C38B}"/>
                </a:ext>
              </a:extLst>
            </p:cNvPr>
            <p:cNvSpPr txBox="1"/>
            <p:nvPr/>
          </p:nvSpPr>
          <p:spPr>
            <a:xfrm>
              <a:off x="143506" y="1598507"/>
              <a:ext cx="5113664" cy="69179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I. Basic Modeling Parameters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Coordinate origin (0, 0, 0): Intersection of the vertical back face of the barrier and the top surface of the bridge deck.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Unit: millimeters (mm).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Total length (L): 15240 mm (model extends in the negative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direction).</a:t>
              </a:r>
            </a:p>
            <a:p>
              <a:pPr algn="l"/>
              <a:br>
                <a:rPr lang="en-US" altLang="zh-CN" sz="436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II. Solid Modeling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Barrier Cross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Section Profile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Connect the following vertices in sequence to form a closed polyline, then extrude it 15240 mm along the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axis: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P1: (0, 0,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P2: (0, 991,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P3: (203, 991, 0)</a:t>
              </a:r>
              <a:r>
                <a:rPr lang="en-US" altLang="zh-CN" sz="873" b="1" dirty="0"/>
                <a:t> </a:t>
              </a:r>
              <a:endParaRPr lang="en-US" altLang="zh-CN" sz="873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P4: (254, 0, 0)</a:t>
              </a:r>
            </a:p>
            <a:p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Deck Cross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Section Profile</a:t>
              </a:r>
            </a:p>
            <a:p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Connect the following vertices in sequence to form a closed polyline, then extrude it 15240 mm along the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axis: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D1: (-51, 0,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D2: (-51, -203,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D3: (5283, -203,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D4: (5283, 0, 0)</a:t>
              </a:r>
              <a:endParaRPr lang="en-US" altLang="zh-CN" sz="546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436" kern="100" dirty="0">
                  <a:solidFill>
                    <a:srgbClr val="EAF2FA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III. Barrier Reinforcement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Longitudinal Rebars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All longitudinal rebars have a length of 15240 mm (extending from Z=0 to Z=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−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15240).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Left side (vertical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Initial rebar: from (71.5, 222, 0) to (71.5, 222,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Copy logic: Copy upward (positive Y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3 times at 222 mm spacing.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 side (sloped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Positioning: Take the top rebar on the left side, copy it rightward (positive X‑axis) once at 65.23 mm spacing to obtain the starting rebar.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this starting rebar downward and rightward 3 times; displacement increment: 11.42 mm horizontally right, 222 mm vertically downward.</a:t>
              </a:r>
            </a:p>
            <a:p>
              <a:pPr algn="l">
                <a:buNone/>
              </a:pP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Barrier Stirrups</a:t>
              </a:r>
            </a:p>
            <a:p>
              <a:pPr algn="l">
                <a:buNone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Single stirrup path points: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(57, -179,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(57, 888, 0)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(151.2, 888.7, 0) </a:t>
              </a:r>
              <a:r>
                <a:rPr lang="zh-CN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—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Note: An upward convex arc shall be created between P2 and P3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(206.1, -179, 0)</a:t>
              </a:r>
              <a:endParaRPr lang="en-US" altLang="zh-CN" sz="873" kern="1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pPr algn="l"/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Distribution: Array along the negative Z‑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at 305 mm spacing to cover the full length.</a:t>
              </a:r>
            </a:p>
            <a:p>
              <a:r>
                <a:rPr lang="en-US" altLang="zh-CN" sz="436" kern="100" dirty="0">
                  <a:solidFill>
                    <a:srgbClr val="EAF2F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1 1</a:t>
              </a:r>
            </a:p>
            <a:p>
              <a:pPr algn="l"/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IV. Deck Reinforcement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Transverse Rebars</a:t>
              </a:r>
              <a:endParaRPr lang="en-US" altLang="zh-CN" sz="873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Left side (vertical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rebar: from (71.5, 222, 0) to (71.5, 222,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upward (positive Y‑axis) 3 times at 222 mm spacing.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Right side (sloped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Positioning: Take the top rebar on the left side, copy it rightward (positive X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once at 65.23 mm spacing to obtain the starting rebar.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Upper transverse rebars: Straight line connecting (33.5, -79, 0) and (5283, -79, 0).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Lower transverse rebars: Straight line connecting (34.6, -179, 0) and (5283, -179, 0).</a:t>
              </a:r>
            </a:p>
            <a:p>
              <a:pPr algn="l"/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Distribution: Both layers arrayed along the negative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at 305 mm spacing.</a:t>
              </a:r>
            </a:p>
            <a:p>
              <a:pPr algn="l"/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Longitudinal Rebars</a:t>
              </a:r>
            </a:p>
            <a:p>
              <a:pPr algn="l"/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All longitudinal rebars have a length of 15240 mm (extending from Z=0 to Z=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−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15240).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Upper longitudinal rebars: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Initial rebar: from (216.4, -93.5, 0) to (216.4, -93.5,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Copy logic: Copy rightward (positive X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16 times at 305 mm spacing.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Lower longitudinal rebars: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Initial rebar: from (105.5, -164.5, 0) to (105.5, -164.5,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Copy logic: Copy rightward (positive X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16 times at 305 mm spacing.</a:t>
              </a:r>
              <a:endParaRPr lang="zh-CN" altLang="zh-CN" sz="3928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AFD854E4-203C-DC5E-CCED-1EA4E3834B5D}"/>
              </a:ext>
            </a:extLst>
          </p:cNvPr>
          <p:cNvGrpSpPr/>
          <p:nvPr/>
        </p:nvGrpSpPr>
        <p:grpSpPr>
          <a:xfrm>
            <a:off x="117422" y="21495"/>
            <a:ext cx="5712250" cy="1575752"/>
            <a:chOff x="82441" y="-539652"/>
            <a:chExt cx="5235792" cy="1376764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998AE10-EA60-92E6-7127-72F894CF8CCC}"/>
                </a:ext>
              </a:extLst>
            </p:cNvPr>
            <p:cNvSpPr/>
            <p:nvPr/>
          </p:nvSpPr>
          <p:spPr>
            <a:xfrm>
              <a:off x="82441" y="-497476"/>
              <a:ext cx="5235792" cy="1334587"/>
            </a:xfrm>
            <a:prstGeom prst="rect">
              <a:avLst/>
            </a:prstGeom>
            <a:solidFill>
              <a:srgbClr val="EAF2FA">
                <a:alpha val="98000"/>
              </a:srgbClr>
            </a:solidFill>
            <a:ln>
              <a:solidFill>
                <a:srgbClr val="EAF2F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64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BA1C893-8579-0469-185E-C1053A80AE9B}"/>
                </a:ext>
              </a:extLst>
            </p:cNvPr>
            <p:cNvSpPr txBox="1"/>
            <p:nvPr/>
          </p:nvSpPr>
          <p:spPr>
            <a:xfrm>
              <a:off x="171287" y="-539652"/>
              <a:ext cx="4804545" cy="3571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zh-CN" altLang="en-US" sz="1527" dirty="0"/>
                <a:t>🎯 </a:t>
              </a:r>
              <a:r>
                <a:rPr lang="en-US" altLang="zh-CN" sz="130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Prompt: </a:t>
              </a:r>
              <a:r>
                <a:rPr lang="en-US" altLang="zh-CN" sz="130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Barrier &amp; Deck Modeling Specifications</a:t>
              </a:r>
              <a:endParaRPr lang="en-US" altLang="zh-CN" sz="1527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1DDCA65-2413-3F0F-E491-B5BAAC6ADA44}"/>
                </a:ext>
              </a:extLst>
            </p:cNvPr>
            <p:cNvSpPr txBox="1"/>
            <p:nvPr/>
          </p:nvSpPr>
          <p:spPr>
            <a:xfrm>
              <a:off x="171287" y="-182506"/>
              <a:ext cx="5082885" cy="10196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Task: Generate complete APDL code for barrier modeling based on the user description.</a:t>
              </a:r>
            </a:p>
            <a:p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Output: Generate the COMPLETE APDL code for the barrier model described above.</a:t>
              </a:r>
            </a:p>
            <a:p>
              <a:pPr>
                <a:buNone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Requirements: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 must be complete, executable, and free of placeholders.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Include all necessary engineering modeling steps.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strict, proper APDL native commands and syntax.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Include descriptive comments explaining key operations.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Ensure the entire script is organized, indented, and readable.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54001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FA5DD752-83F6-5EEF-7563-54C9C06B99B5}"/>
              </a:ext>
            </a:extLst>
          </p:cNvPr>
          <p:cNvGrpSpPr/>
          <p:nvPr/>
        </p:nvGrpSpPr>
        <p:grpSpPr>
          <a:xfrm>
            <a:off x="82443" y="121362"/>
            <a:ext cx="5235792" cy="7677315"/>
            <a:chOff x="82442" y="121362"/>
            <a:chExt cx="5235792" cy="7677314"/>
          </a:xfrm>
        </p:grpSpPr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7CDDD23D-0D20-04CD-1506-0701A4AECDD6}"/>
                </a:ext>
              </a:extLst>
            </p:cNvPr>
            <p:cNvSpPr/>
            <p:nvPr/>
          </p:nvSpPr>
          <p:spPr>
            <a:xfrm>
              <a:off x="82442" y="121362"/>
              <a:ext cx="5235792" cy="7677314"/>
            </a:xfrm>
            <a:prstGeom prst="rect">
              <a:avLst/>
            </a:prstGeom>
            <a:solidFill>
              <a:srgbClr val="EAF2FA">
                <a:alpha val="98000"/>
              </a:srgbClr>
            </a:solidFill>
            <a:ln>
              <a:solidFill>
                <a:srgbClr val="EAF2F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FAED6FB2-4DF8-C921-6248-A1C19787B0C3}"/>
                </a:ext>
              </a:extLst>
            </p:cNvPr>
            <p:cNvSpPr txBox="1"/>
            <p:nvPr/>
          </p:nvSpPr>
          <p:spPr>
            <a:xfrm>
              <a:off x="164882" y="673357"/>
              <a:ext cx="5113664" cy="61863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800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I. Basic Modeling Parameters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Coordinate origin (0, 0, 0): Located at the intersection of the barrier back face and the top surface of the bridge deck.</a:t>
              </a:r>
            </a:p>
            <a:p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Unit: millimeters (mm).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Total length (L): 15240 mm (model extends in the negative Z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direction).</a:t>
              </a:r>
            </a:p>
            <a:p>
              <a:pPr algn="l"/>
              <a:br>
                <a:rPr lang="en-US" altLang="zh-CN" sz="4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II. Solid Modeling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Barrier Cross</a:t>
              </a:r>
              <a:r>
                <a:rPr lang="en-US" altLang="zh-CN" sz="8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Section Profile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Connect the following vertices in sequence to form a closed polyline, then extrude it 15240 mm along the Z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axis: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P1: (0, 0,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P2: 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(0, 1118, 0) 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P3: 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(254, 1118, 0) </a:t>
              </a:r>
              <a:endParaRPr lang="en-US" altLang="zh-CN" sz="8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P4: 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(254, 0, 0) </a:t>
              </a:r>
            </a:p>
            <a:p>
              <a:r>
                <a:rPr lang="en-US" altLang="zh-CN" sz="8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Deck Cross</a:t>
              </a:r>
              <a:r>
                <a:rPr lang="en-US" altLang="zh-CN" sz="8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Section Profile</a:t>
              </a:r>
            </a:p>
            <a:p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Connect the following vertices in sequence to form a closed polyline, then extrude it 15240 mm along the Z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axis: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D1: (-51, 0,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D2: (-51, -254,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D3: (4216, -254,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D4: (4216, 0, 0)</a:t>
              </a:r>
              <a:endParaRPr lang="en-US" altLang="zh-CN" sz="5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400" kern="100" dirty="0">
                  <a:solidFill>
                    <a:srgbClr val="EAF2F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III. Barrier Reinforcement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Longitudinal Rebars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All longitudinal rebars have a length of 15240 mm (extending from Z=0 to Z=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−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15240).</a:t>
              </a:r>
            </a:p>
            <a:p>
              <a:pPr marL="171463" indent="-171463">
                <a:buFont typeface="Times New Roman" panose="02020603050405020304" pitchFamily="18" charset="0"/>
                <a:buChar char="○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Left longitudinal rebar array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rebar: from (67, 105, 0) to (67, 105, -15240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upward (positive Y‑axis) 3 times at 305 mm spacing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marL="171463" indent="-171463">
                <a:buFont typeface="Times New Roman" panose="02020603050405020304" pitchFamily="18" charset="0"/>
                <a:buChar char="○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 longitudinal rebar array: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Positioning: Take the last rebar generated above, copy it rightward (positive X‑axis) once at 120 mm spacing to obtain the starting rebar.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this starting rebar downward (negative Y‑axis) 3 times at 305 mm spacing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l">
                <a:buNone/>
              </a:pPr>
              <a:r>
                <a:rPr lang="en-US" altLang="zh-CN" sz="8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Barrier Stirrups</a:t>
              </a:r>
            </a:p>
            <a:p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Single stirrup path points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(closed or U‑shape)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(51, -200.5,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(51, 1036, 0)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(203, 1036, 0)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(203, -200.5, 0)</a:t>
              </a:r>
              <a:endParaRPr lang="en-US" altLang="zh-CN" sz="800" kern="1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Distribution: Array along the negative Z‑axis at 152 mm spacing to cover the full length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algn="l"/>
              <a:r>
                <a:rPr lang="en-US" altLang="zh-CN" sz="400" kern="100" dirty="0">
                  <a:solidFill>
                    <a:srgbClr val="EAF2F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</a:p>
            <a:p>
              <a:pPr algn="l"/>
              <a:r>
                <a:rPr lang="en-US" altLang="zh-CN" sz="800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IV. Deck Reinforcement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Transverse Rebars</a:t>
              </a:r>
              <a:endParaRPr lang="en-US" altLang="zh-CN" sz="8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71463" indent="-171463">
                <a:buFont typeface="Times New Roman" panose="02020603050405020304" pitchFamily="18" charset="0"/>
                <a:buChar char="○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Upper transverse rebars: Straight line connecting (0, -74, 0) and (4216, -74, 0).</a:t>
              </a:r>
            </a:p>
            <a:p>
              <a:pPr marL="171463" indent="-171463">
                <a:buFont typeface="Times New Roman" panose="02020603050405020304" pitchFamily="18" charset="0"/>
                <a:buChar char="○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Lower transverse rebars: Straight line connecting (0, -195, 0) and (4216, -195, 0).</a:t>
              </a:r>
            </a:p>
            <a:p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Distribution: Both layers arrayed along the negative Z‑axis at 305 mm spacing.</a:t>
              </a:r>
            </a:p>
            <a:p>
              <a:pPr algn="l"/>
              <a:r>
                <a:rPr lang="en-US" altLang="zh-CN" sz="8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Longitudinal Rebars</a:t>
              </a:r>
            </a:p>
            <a:p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All longitudinal rebars have a length of 15240 mm (extending from Z=0 to Z=−15240</a:t>
              </a: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  <a:p>
              <a:pPr marL="171463" indent="-171463">
                <a:buFont typeface="Times New Roman" panose="02020603050405020304" pitchFamily="18" charset="0"/>
                <a:buChar char="○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Upper longitudinal rebars: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rebar: from (34.8, -92, 0) to (34.8, -92, -15240)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 1: Copy rightward 5 times at 203 mm spacing.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 2: Based on the latest rebar generated, continue copying rightward 7 times at 305 mm spacing.</a:t>
              </a:r>
            </a:p>
            <a:p>
              <a:pPr marL="171463" indent="-171463">
                <a:buFont typeface="Times New Roman" panose="02020603050405020304" pitchFamily="18" charset="0"/>
                <a:buChar char="○"/>
              </a:pP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Lower longitudinal rebars: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rebar: from (34.8, -179, 0) to (34.8, -179, -15240)</a:t>
              </a:r>
              <a:b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rightward (positive X‑axis) 13 times at 305 mm spacing.</a:t>
              </a:r>
              <a:endParaRPr lang="zh-CN" altLang="zh-CN" sz="36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4EFC9ECB-61D4-1802-6799-90966980C841}"/>
                </a:ext>
              </a:extLst>
            </p:cNvPr>
            <p:cNvSpPr txBox="1"/>
            <p:nvPr/>
          </p:nvSpPr>
          <p:spPr>
            <a:xfrm>
              <a:off x="122129" y="396358"/>
              <a:ext cx="480664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📑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Prompt: Barrier &amp; Deck Modeling Specifications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A09DFE33-74CB-6EF4-D49E-C3C286ED1377}"/>
                </a:ext>
              </a:extLst>
            </p:cNvPr>
            <p:cNvSpPr txBox="1"/>
            <p:nvPr/>
          </p:nvSpPr>
          <p:spPr>
            <a:xfrm>
              <a:off x="164882" y="126585"/>
              <a:ext cx="87693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Case 02</a:t>
              </a:r>
              <a:r>
                <a:rPr lang="en-US" altLang="zh-CN" sz="14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3011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295D5-BAE8-C476-15FF-106F8C6AB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A5ED11CF-E500-9988-F6ED-B45B163996B2}"/>
              </a:ext>
            </a:extLst>
          </p:cNvPr>
          <p:cNvGrpSpPr/>
          <p:nvPr/>
        </p:nvGrpSpPr>
        <p:grpSpPr>
          <a:xfrm>
            <a:off x="114087" y="1708817"/>
            <a:ext cx="5712250" cy="7547450"/>
            <a:chOff x="82442" y="1598507"/>
            <a:chExt cx="5235792" cy="6917917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6DAE0623-7FFC-8963-9259-4A1CEDEF766A}"/>
                </a:ext>
              </a:extLst>
            </p:cNvPr>
            <p:cNvSpPr/>
            <p:nvPr/>
          </p:nvSpPr>
          <p:spPr>
            <a:xfrm>
              <a:off x="82442" y="1598507"/>
              <a:ext cx="5235792" cy="6917917"/>
            </a:xfrm>
            <a:prstGeom prst="rect">
              <a:avLst/>
            </a:prstGeom>
            <a:solidFill>
              <a:srgbClr val="EAF2FA">
                <a:alpha val="98000"/>
              </a:srgbClr>
            </a:solidFill>
            <a:ln>
              <a:solidFill>
                <a:srgbClr val="EAF2F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64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00B47CB-8CA5-7ED7-9225-694DF48552C2}"/>
                </a:ext>
              </a:extLst>
            </p:cNvPr>
            <p:cNvSpPr txBox="1"/>
            <p:nvPr/>
          </p:nvSpPr>
          <p:spPr>
            <a:xfrm>
              <a:off x="143506" y="1598507"/>
              <a:ext cx="5113664" cy="63896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900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I. Basic Modeling Parameters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Coordinate origin (0, 0, 0): Located at the intersection of the barrier back face and the top surface of the bridge deck.</a:t>
              </a:r>
            </a:p>
            <a:p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Unit: millimeters (mm).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Total length (L): 15240 mm (model extends in the negative Z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‑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direction).</a:t>
              </a:r>
            </a:p>
            <a:p>
              <a:br>
                <a:rPr lang="en-US" altLang="zh-CN" sz="5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II. Solid Modeling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Barrier Cross</a:t>
              </a:r>
              <a:r>
                <a:rPr lang="en-US" altLang="zh-CN" sz="9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‑</a:t>
              </a:r>
              <a:r>
                <a:rPr lang="en-US" altLang="zh-CN" sz="9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Section Profile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Connect the following vertices in sequence to form a closed polyline, then extrude it 15240 mm along the Z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‑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axis: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P1: (0, 0,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P2: 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(0, 1118, 0) 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P3: 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(254, 1118, 0) </a:t>
              </a:r>
              <a:endParaRPr lang="en-US" altLang="zh-CN" sz="900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P4: 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(254, 0, 0) </a:t>
              </a:r>
            </a:p>
            <a:p>
              <a:r>
                <a:rPr lang="en-US" altLang="zh-CN" sz="9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Deck Cross</a:t>
              </a:r>
              <a:r>
                <a:rPr lang="en-US" altLang="zh-CN" sz="9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‑</a:t>
              </a:r>
              <a:r>
                <a:rPr lang="en-US" altLang="zh-CN" sz="9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Section Profile</a:t>
              </a:r>
            </a:p>
            <a:p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Connect the following vertices in sequence to form a closed polyline, then extrude it 15240 mm along the Z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‑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axis: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D1: (-51, 0,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D2: (-51, -254,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D3: (4216, -254,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D4: (4216, 0, 0)</a:t>
              </a:r>
              <a:endParaRPr lang="en-US" altLang="zh-CN" sz="600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500" kern="100" dirty="0">
                  <a:solidFill>
                    <a:srgbClr val="EAF2F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III. Barrier Reinforcement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Longitudinal Rebars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All longitudinal rebars have a length of 15240 mm (extending from Z=0 to Z=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−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15240).</a:t>
              </a:r>
            </a:p>
            <a:p>
              <a:pPr marL="171463" indent="-171463">
                <a:buFont typeface="Times New Roman" panose="02020603050405020304" pitchFamily="18" charset="0"/>
                <a:buChar char="○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Left longitudinal rebar array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rebar: from (67, 105, 0) to (67, 105, -15240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upward (positive Y‑axis) 3 times at 305 mm spacing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pPr marL="171463" indent="-171463">
                <a:buFont typeface="Times New Roman" panose="02020603050405020304" pitchFamily="18" charset="0"/>
                <a:buChar char="○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 longitudinal rebar array: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Positioning: Take the last rebar generated above, copy it rightward (positive X‑axis) once at 120 mm spacing to obtain the starting rebar.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this starting rebar downward (negative Y‑axis) 3 times at 305 mm spacing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r>
                <a:rPr lang="en-US" altLang="zh-CN" sz="9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Barrier Stirrups</a:t>
              </a:r>
            </a:p>
            <a:p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Single stirrup path points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(closed or U‑shape)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(51, -200.5,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(51, 1036, 0)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(203, 1036, 0)</a:t>
              </a:r>
            </a:p>
            <a:p>
              <a:pPr marL="72005" indent="-72005">
                <a:buFont typeface="Arial" panose="020B0604020202020204" pitchFamily="34" charset="0"/>
                <a:buChar char="•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(203, -200.5, 0)</a:t>
              </a:r>
            </a:p>
            <a:p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Distribution: Array along the negative Z‑axis at 152 mm spacing to cover the full length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  <a:p>
              <a:r>
                <a:rPr lang="en-US" altLang="zh-CN" sz="500" kern="100" dirty="0">
                  <a:solidFill>
                    <a:srgbClr val="EAF2F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</a:t>
              </a:r>
            </a:p>
            <a:p>
              <a:r>
                <a:rPr lang="en-US" altLang="zh-CN" sz="900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IV. Deck Reinforcement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Transverse Rebars</a:t>
              </a:r>
              <a:endParaRPr lang="en-US" altLang="zh-CN" sz="9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71463" indent="-171463">
                <a:buFont typeface="Times New Roman" panose="02020603050405020304" pitchFamily="18" charset="0"/>
                <a:buChar char="○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Upper transverse rebars: Straight line connecting (0, -74, 0) and (4216, -74, 0).</a:t>
              </a:r>
            </a:p>
            <a:p>
              <a:pPr marL="171463" indent="-171463">
                <a:buFont typeface="Times New Roman" panose="02020603050405020304" pitchFamily="18" charset="0"/>
                <a:buChar char="○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Lower transverse rebars: Straight line connecting (0, -195, 0) and (4216, -195, 0).</a:t>
              </a:r>
            </a:p>
            <a:p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Distribution: Both layers arrayed along the negative Z‑axis at 305 mm spacing.</a:t>
              </a:r>
            </a:p>
            <a:p>
              <a:r>
                <a:rPr lang="en-US" altLang="zh-CN" sz="900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Longitudinal Rebars</a:t>
              </a:r>
            </a:p>
            <a:p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All longitudinal rebars have a length of 15240 mm (extending from Z=0 to Z=−15240</a:t>
              </a: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).</a:t>
              </a:r>
            </a:p>
            <a:p>
              <a:pPr marL="171463" indent="-171463">
                <a:buFont typeface="Times New Roman" panose="02020603050405020304" pitchFamily="18" charset="0"/>
                <a:buChar char="○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Upper longitudinal rebars: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rebar: from (34.8, -92, 0) to (34.8, -92, -15240)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 1: Copy rightward 5 times at 203 mm spacing.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 2: Based on the latest rebar generated, continue copying rightward 7 times at 305 mm spacing.</a:t>
              </a:r>
            </a:p>
            <a:p>
              <a:pPr marL="171463" indent="-171463">
                <a:buFont typeface="Times New Roman" panose="02020603050405020304" pitchFamily="18" charset="0"/>
                <a:buChar char="○"/>
              </a:pP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Lower longitudinal rebars: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rebar: from (34.8, -179, 0) to (34.8, -179, -15240)</a:t>
              </a:r>
              <a:b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900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rightward (positive X‑axis) 13 times at 305 mm spacing.</a:t>
              </a:r>
              <a:endParaRPr lang="zh-CN" altLang="zh-CN" sz="4000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9C0A4D5F-8547-3EDA-A36E-AEFDA3A9927B}"/>
              </a:ext>
            </a:extLst>
          </p:cNvPr>
          <p:cNvGrpSpPr/>
          <p:nvPr/>
        </p:nvGrpSpPr>
        <p:grpSpPr>
          <a:xfrm>
            <a:off x="117422" y="21495"/>
            <a:ext cx="5712250" cy="1575752"/>
            <a:chOff x="82441" y="-539652"/>
            <a:chExt cx="5235792" cy="1376764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A71823DD-A2A8-02DC-9A9B-BB5A1EFBA0F5}"/>
                </a:ext>
              </a:extLst>
            </p:cNvPr>
            <p:cNvSpPr/>
            <p:nvPr/>
          </p:nvSpPr>
          <p:spPr>
            <a:xfrm>
              <a:off x="82441" y="-497476"/>
              <a:ext cx="5235792" cy="1334587"/>
            </a:xfrm>
            <a:prstGeom prst="rect">
              <a:avLst/>
            </a:prstGeom>
            <a:solidFill>
              <a:srgbClr val="EAF2FA">
                <a:alpha val="98000"/>
              </a:srgbClr>
            </a:solidFill>
            <a:ln>
              <a:solidFill>
                <a:srgbClr val="EAF2F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64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69F08C8-C52E-16C5-E90E-881405456D82}"/>
                </a:ext>
              </a:extLst>
            </p:cNvPr>
            <p:cNvSpPr txBox="1"/>
            <p:nvPr/>
          </p:nvSpPr>
          <p:spPr>
            <a:xfrm>
              <a:off x="171287" y="-539652"/>
              <a:ext cx="4804545" cy="3571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zh-CN" altLang="en-US" sz="1527" dirty="0"/>
                <a:t>🎯 </a:t>
              </a:r>
              <a:r>
                <a:rPr lang="en-US" altLang="zh-CN" sz="130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Prompt: </a:t>
              </a:r>
              <a:r>
                <a:rPr lang="en-US" altLang="zh-CN" sz="130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Barrier &amp; Deck Modeling Specifications</a:t>
              </a:r>
              <a:endParaRPr lang="en-US" altLang="zh-CN" sz="1527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B873FE7-C2FD-8D47-404A-0962FA77B90B}"/>
                </a:ext>
              </a:extLst>
            </p:cNvPr>
            <p:cNvSpPr txBox="1"/>
            <p:nvPr/>
          </p:nvSpPr>
          <p:spPr>
            <a:xfrm>
              <a:off x="171287" y="-182506"/>
              <a:ext cx="5082885" cy="10196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Task: Generate complete APDL code for barrier modeling based on the user description.</a:t>
              </a:r>
            </a:p>
            <a:p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Output: Generate the COMPLETE APDL code for the barrier model described above.</a:t>
              </a:r>
            </a:p>
            <a:p>
              <a:pPr>
                <a:buNone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Requirements: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 must be complete, executable, and free of placeholders.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Include all necessary engineering modeling steps.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strict, proper APDL native commands and syntax.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Include descriptive comments explaining key operations.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Ensure the entire script is organized, indented, and readable.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4880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FD6BC-C722-3E8A-7E3B-DFBC0E13D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67EB4D7D-84B0-1146-B461-BF011EBD9992}"/>
              </a:ext>
            </a:extLst>
          </p:cNvPr>
          <p:cNvGrpSpPr/>
          <p:nvPr/>
        </p:nvGrpSpPr>
        <p:grpSpPr>
          <a:xfrm>
            <a:off x="114087" y="1708817"/>
            <a:ext cx="5712250" cy="7547451"/>
            <a:chOff x="82442" y="1598507"/>
            <a:chExt cx="5235792" cy="6917918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5CB903C-9E8C-E837-5E6E-C65CAE8A0202}"/>
                </a:ext>
              </a:extLst>
            </p:cNvPr>
            <p:cNvSpPr/>
            <p:nvPr/>
          </p:nvSpPr>
          <p:spPr>
            <a:xfrm>
              <a:off x="82442" y="1598507"/>
              <a:ext cx="5235792" cy="6917917"/>
            </a:xfrm>
            <a:prstGeom prst="rect">
              <a:avLst/>
            </a:prstGeom>
            <a:solidFill>
              <a:srgbClr val="EAF2FA">
                <a:alpha val="98000"/>
              </a:srgbClr>
            </a:solidFill>
            <a:ln>
              <a:solidFill>
                <a:srgbClr val="EAF2F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64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4FC5353-F0D7-8EC2-C4F8-F7AC5642FCEE}"/>
                </a:ext>
              </a:extLst>
            </p:cNvPr>
            <p:cNvSpPr txBox="1"/>
            <p:nvPr/>
          </p:nvSpPr>
          <p:spPr>
            <a:xfrm>
              <a:off x="143506" y="1598507"/>
              <a:ext cx="5113664" cy="69179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I. Basic Modeling Parameters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Coordinate origin (0, 0, 0): Intersection of the vertical back face of the barrier and the top surface of the bridge deck.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Unit: millimeters (mm).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Total length (L): 15240 mm (model extends in the negative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direction).</a:t>
              </a:r>
            </a:p>
            <a:p>
              <a:pPr algn="l"/>
              <a:br>
                <a:rPr lang="en-US" altLang="zh-CN" sz="436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II. Solid Modeling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Barrier Cross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Section Profile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Connect the following vertices in sequence to form a closed polyline, then extrude it 15240 mm along the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axis: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P1: (0, 0,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P2: (0, 991,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P3: (203, 991, 0)</a:t>
              </a:r>
              <a:r>
                <a:rPr lang="en-US" altLang="zh-CN" sz="873" b="1" dirty="0"/>
                <a:t> </a:t>
              </a:r>
              <a:endParaRPr lang="en-US" altLang="zh-CN" sz="873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P4: (254, 0, 0)</a:t>
              </a:r>
            </a:p>
            <a:p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Deck Cross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Section Profile</a:t>
              </a:r>
            </a:p>
            <a:p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Connect the following vertices in sequence to form a closed polyline, then extrude it 15240 mm along the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axis: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D1: (-51, 0,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D2: (-51, -203,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D3: (5283, -203,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D4: (5283, 0, 0)</a:t>
              </a:r>
              <a:endParaRPr lang="en-US" altLang="zh-CN" sz="546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436" kern="100" dirty="0">
                  <a:solidFill>
                    <a:srgbClr val="EAF2FA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III. Barrier Reinforcement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Longitudinal Rebars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All longitudinal rebars have a length of 15240 mm (extending from Z=0 to Z=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−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15240).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Left side (vertical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Initial rebar: from (71.5, 222, 0) to (71.5, 222,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Copy logic: Copy upward (positive Y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3 times at 222 mm spacing.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 side (sloped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Positioning: Take the top rebar on the left side, copy it rightward (positive X‑axis) once at 65.23 mm spacing to obtain the starting rebar.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this starting rebar downward and rightward 3 times; displacement increment: 11.42 mm horizontally right, 222 mm vertically downward.</a:t>
              </a:r>
            </a:p>
            <a:p>
              <a:pPr algn="l">
                <a:buNone/>
              </a:pP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Barrier Stirrups</a:t>
              </a:r>
            </a:p>
            <a:p>
              <a:pPr algn="l">
                <a:buNone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Single stirrup path points: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(57, -179,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(57, 888, 0)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(151.2, 888.7, 0) </a:t>
              </a:r>
              <a:r>
                <a:rPr lang="zh-CN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—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Note: An upward convex arc shall be created between P2 and P3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(206.1, -179, 0)</a:t>
              </a:r>
              <a:endParaRPr lang="en-US" altLang="zh-CN" sz="873" kern="1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pPr algn="l"/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Distribution: Array along the negative Z‑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at 305 mm spacing to cover the full length.</a:t>
              </a:r>
            </a:p>
            <a:p>
              <a:r>
                <a:rPr lang="en-US" altLang="zh-CN" sz="436" kern="100" dirty="0">
                  <a:solidFill>
                    <a:srgbClr val="EAF2F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1 1</a:t>
              </a:r>
            </a:p>
            <a:p>
              <a:pPr algn="l"/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IV. Deck Reinforcement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Transverse Rebars</a:t>
              </a:r>
              <a:endParaRPr lang="en-US" altLang="zh-CN" sz="873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Left side (vertical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rebar: from (71.5, 222, 0) to (71.5, 222,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upward (positive Y‑axis) 3 times at 222 mm spacing.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Right side (sloped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Positioning: Take the top rebar on the left side, copy it rightward (positive X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once at 65.23 mm spacing to obtain the starting rebar.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Upper transverse rebars: Straight line connecting (33.5, -79, 0) and (5283, -79, 0).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Lower transverse rebars: Straight line connecting (34.6, -179, 0) and (5283, -179, 0).</a:t>
              </a:r>
            </a:p>
            <a:p>
              <a:pPr algn="l"/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Distribution: Both layers arrayed along the negative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at 305 mm spacing.</a:t>
              </a:r>
            </a:p>
            <a:p>
              <a:pPr algn="l"/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Longitudinal Rebars</a:t>
              </a:r>
            </a:p>
            <a:p>
              <a:pPr algn="l"/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All longitudinal rebars have a length of 15240 mm (extending from Z=0 to Z=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−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15240).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Upper longitudinal rebars: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Initial rebar: from (216.4, -93.5, 0) to (216.4, -93.5,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Copy logic: Copy rightward (positive X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16 times at 305 mm spacing.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Lower longitudinal rebars: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Initial rebar: from (105.5, -164.5, 0) to (105.5, -164.5,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Copy logic: Copy rightward (positive X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16 times at 305 mm spacing.</a:t>
              </a:r>
              <a:endParaRPr lang="zh-CN" altLang="zh-CN" sz="3928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3D1E78B-2885-7AFC-490D-0959CC173703}"/>
              </a:ext>
            </a:extLst>
          </p:cNvPr>
          <p:cNvGrpSpPr/>
          <p:nvPr/>
        </p:nvGrpSpPr>
        <p:grpSpPr>
          <a:xfrm>
            <a:off x="117422" y="21495"/>
            <a:ext cx="5712250" cy="1575752"/>
            <a:chOff x="82441" y="-539652"/>
            <a:chExt cx="5235792" cy="1376764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1D216FD-4925-B5F1-D125-A300878F26C4}"/>
                </a:ext>
              </a:extLst>
            </p:cNvPr>
            <p:cNvSpPr/>
            <p:nvPr/>
          </p:nvSpPr>
          <p:spPr>
            <a:xfrm>
              <a:off x="82441" y="-497476"/>
              <a:ext cx="5235792" cy="1334587"/>
            </a:xfrm>
            <a:prstGeom prst="rect">
              <a:avLst/>
            </a:prstGeom>
            <a:solidFill>
              <a:srgbClr val="EAF2FA">
                <a:alpha val="98000"/>
              </a:srgbClr>
            </a:solidFill>
            <a:ln>
              <a:solidFill>
                <a:srgbClr val="EAF2F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64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5D3D79B-0F34-7ABC-2DD9-CCE405C6AD56}"/>
                </a:ext>
              </a:extLst>
            </p:cNvPr>
            <p:cNvSpPr txBox="1"/>
            <p:nvPr/>
          </p:nvSpPr>
          <p:spPr>
            <a:xfrm>
              <a:off x="171287" y="-539652"/>
              <a:ext cx="4804545" cy="3571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zh-CN" altLang="en-US" sz="1527" dirty="0"/>
                <a:t>🎯 </a:t>
              </a:r>
              <a:r>
                <a:rPr lang="en-US" altLang="zh-CN" sz="130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Prompt: </a:t>
              </a:r>
              <a:r>
                <a:rPr lang="en-US" altLang="zh-CN" sz="130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Barrier &amp; Deck Modeling Specifications</a:t>
              </a:r>
              <a:endParaRPr lang="en-US" altLang="zh-CN" sz="1527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43D0B1F-C410-D601-B623-5B6C8414F84D}"/>
                </a:ext>
              </a:extLst>
            </p:cNvPr>
            <p:cNvSpPr txBox="1"/>
            <p:nvPr/>
          </p:nvSpPr>
          <p:spPr>
            <a:xfrm>
              <a:off x="171287" y="-182506"/>
              <a:ext cx="5082885" cy="10196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Task: Generate complete APDL code for barrier modeling based on the user description.</a:t>
              </a:r>
            </a:p>
            <a:p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Output: Generate the COMPLETE APDL code for the barrier model described above.</a:t>
              </a:r>
            </a:p>
            <a:p>
              <a:pPr>
                <a:buNone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Requirements: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 must be complete, executable, and free of placeholders.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Include all necessary engineering modeling steps.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strict, proper APDL native commands and syntax.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Include descriptive comments explaining key operations.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Ensure the entire script is organized, indented, and readable.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2628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B0DD3-65A1-C5EC-9905-C06602987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EEB59EC4-5F5A-8680-AE48-37E029E02738}"/>
              </a:ext>
            </a:extLst>
          </p:cNvPr>
          <p:cNvGrpSpPr/>
          <p:nvPr/>
        </p:nvGrpSpPr>
        <p:grpSpPr>
          <a:xfrm>
            <a:off x="114087" y="1708817"/>
            <a:ext cx="5712250" cy="7547451"/>
            <a:chOff x="82442" y="1598507"/>
            <a:chExt cx="5235792" cy="6917918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7DE1B04-3D04-DCE5-B26A-3EE4652461A5}"/>
                </a:ext>
              </a:extLst>
            </p:cNvPr>
            <p:cNvSpPr/>
            <p:nvPr/>
          </p:nvSpPr>
          <p:spPr>
            <a:xfrm>
              <a:off x="82442" y="1598507"/>
              <a:ext cx="5235792" cy="6917917"/>
            </a:xfrm>
            <a:prstGeom prst="rect">
              <a:avLst/>
            </a:prstGeom>
            <a:solidFill>
              <a:srgbClr val="EAF2FA">
                <a:alpha val="98000"/>
              </a:srgbClr>
            </a:solidFill>
            <a:ln>
              <a:solidFill>
                <a:srgbClr val="EAF2F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64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BDCAA203-49E6-6A42-3C5A-5343AC6F73D6}"/>
                </a:ext>
              </a:extLst>
            </p:cNvPr>
            <p:cNvSpPr txBox="1"/>
            <p:nvPr/>
          </p:nvSpPr>
          <p:spPr>
            <a:xfrm>
              <a:off x="143506" y="1598507"/>
              <a:ext cx="5113664" cy="69179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I. Basic Modeling Parameters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Coordinate origin (0, 0, 0): Intersection of the vertical back face of the barrier and the top surface of the bridge deck.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Unit: millimeters (mm).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Total length (L): 15240 mm (model extends in the negative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direction).</a:t>
              </a:r>
            </a:p>
            <a:p>
              <a:pPr algn="l"/>
              <a:br>
                <a:rPr lang="en-US" altLang="zh-CN" sz="436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II. Solid Modeling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Barrier Cross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Section Profile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Connect the following vertices in sequence to form a closed polyline, then extrude it 15240 mm along the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axis: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P1: (0, 0,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P2: (0, 991,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P3: (203, 991, 0)</a:t>
              </a:r>
              <a:r>
                <a:rPr lang="en-US" altLang="zh-CN" sz="873" b="1" dirty="0"/>
                <a:t> </a:t>
              </a:r>
              <a:endParaRPr lang="en-US" altLang="zh-CN" sz="873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P4: (254, 0, 0)</a:t>
              </a:r>
            </a:p>
            <a:p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Deck Cross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Section Profile</a:t>
              </a:r>
            </a:p>
            <a:p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Connect the following vertices in sequence to form a closed polyline, then extrude it 15240 mm along the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axis: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D1: (-51, 0,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D2: (-51, -203,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D3: (5283, -203,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D4: (5283, 0, 0)</a:t>
              </a:r>
              <a:endParaRPr lang="en-US" altLang="zh-CN" sz="546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436" kern="100" dirty="0">
                  <a:solidFill>
                    <a:srgbClr val="EAF2FA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III. Barrier Reinforcement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Longitudinal Rebars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All longitudinal rebars have a length of 15240 mm (extending from Z=0 to Z=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−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15240).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Left side (vertical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Initial rebar: from (71.5, 222, 0) to (71.5, 222,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Copy logic: Copy upward (positive Y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3 times at 222 mm spacing.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 side (sloped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Positioning: Take the top rebar on the left side, copy it rightward (positive X‑axis) once at 65.23 mm spacing to obtain the starting rebar.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this starting rebar downward and rightward 3 times; displacement increment: 11.42 mm horizontally right, 222 mm vertically downward.</a:t>
              </a:r>
            </a:p>
            <a:p>
              <a:pPr algn="l">
                <a:buNone/>
              </a:pP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Barrier Stirrups</a:t>
              </a:r>
            </a:p>
            <a:p>
              <a:pPr algn="l">
                <a:buNone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Single stirrup path points: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(57, -179,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(57, 888, 0)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(151.2, 888.7, 0) </a:t>
              </a:r>
              <a:r>
                <a:rPr lang="zh-CN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—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Note: An upward convex arc shall be created between P2 and P3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(206.1, -179, 0)</a:t>
              </a:r>
              <a:endParaRPr lang="en-US" altLang="zh-CN" sz="873" kern="1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pPr algn="l"/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Distribution: Array along the negative Z‑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at 305 mm spacing to cover the full length.</a:t>
              </a:r>
            </a:p>
            <a:p>
              <a:r>
                <a:rPr lang="en-US" altLang="zh-CN" sz="436" kern="100" dirty="0">
                  <a:solidFill>
                    <a:srgbClr val="EAF2F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1 1</a:t>
              </a:r>
            </a:p>
            <a:p>
              <a:pPr algn="l"/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IV. Deck Reinforcement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Transverse Rebars</a:t>
              </a:r>
              <a:endParaRPr lang="en-US" altLang="zh-CN" sz="873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Left side (vertical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rebar: from (71.5, 222, 0) to (71.5, 222,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upward (positive Y‑axis) 3 times at 222 mm spacing.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Right side (sloped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Positioning: Take the top rebar on the left side, copy it rightward (positive X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once at 65.23 mm spacing to obtain the starting rebar.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Upper transverse rebars: Straight line connecting (33.5, -79, 0) and (5283, -79, 0).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Lower transverse rebars: Straight line connecting (34.6, -179, 0) and (5283, -179, 0).</a:t>
              </a:r>
            </a:p>
            <a:p>
              <a:pPr algn="l"/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Distribution: Both layers arrayed along the negative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at 305 mm spacing.</a:t>
              </a:r>
            </a:p>
            <a:p>
              <a:pPr algn="l"/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Longitudinal Rebars</a:t>
              </a:r>
            </a:p>
            <a:p>
              <a:pPr algn="l"/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All longitudinal rebars have a length of 15240 mm (extending from Z=0 to Z=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−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15240).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Upper longitudinal rebars: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Initial rebar: from (216.4, -93.5, 0) to (216.4, -93.5,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Copy logic: Copy rightward (positive X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16 times at 305 mm spacing.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Lower longitudinal rebars: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Initial rebar: from (105.5, -164.5, 0) to (105.5, -164.5,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Copy logic: Copy rightward (positive X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16 times at 305 mm spacing.</a:t>
              </a:r>
              <a:endParaRPr lang="zh-CN" altLang="zh-CN" sz="3928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2958AE3-B409-B0B5-2E8F-72E529CA5147}"/>
              </a:ext>
            </a:extLst>
          </p:cNvPr>
          <p:cNvGrpSpPr/>
          <p:nvPr/>
        </p:nvGrpSpPr>
        <p:grpSpPr>
          <a:xfrm>
            <a:off x="117422" y="21495"/>
            <a:ext cx="5712250" cy="1575752"/>
            <a:chOff x="82441" y="-539652"/>
            <a:chExt cx="5235792" cy="1376764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5A504C57-FBF5-684D-A73F-09B96F7761F4}"/>
                </a:ext>
              </a:extLst>
            </p:cNvPr>
            <p:cNvSpPr/>
            <p:nvPr/>
          </p:nvSpPr>
          <p:spPr>
            <a:xfrm>
              <a:off x="82441" y="-497476"/>
              <a:ext cx="5235792" cy="1334587"/>
            </a:xfrm>
            <a:prstGeom prst="rect">
              <a:avLst/>
            </a:prstGeom>
            <a:solidFill>
              <a:srgbClr val="EAF2FA">
                <a:alpha val="98000"/>
              </a:srgbClr>
            </a:solidFill>
            <a:ln>
              <a:solidFill>
                <a:srgbClr val="EAF2F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64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C183D2F7-3770-2654-3ED9-73706A050368}"/>
                </a:ext>
              </a:extLst>
            </p:cNvPr>
            <p:cNvSpPr txBox="1"/>
            <p:nvPr/>
          </p:nvSpPr>
          <p:spPr>
            <a:xfrm>
              <a:off x="171287" y="-539652"/>
              <a:ext cx="4804545" cy="3571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zh-CN" altLang="en-US" sz="1527" dirty="0"/>
                <a:t>🎯 </a:t>
              </a:r>
              <a:r>
                <a:rPr lang="en-US" altLang="zh-CN" sz="130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Prompt: </a:t>
              </a:r>
              <a:r>
                <a:rPr lang="en-US" altLang="zh-CN" sz="130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Barrier &amp; Deck Modeling Specifications</a:t>
              </a:r>
              <a:endParaRPr lang="en-US" altLang="zh-CN" sz="1527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8D3C7E1-D7AB-A006-0E9B-C5796353D556}"/>
                </a:ext>
              </a:extLst>
            </p:cNvPr>
            <p:cNvSpPr txBox="1"/>
            <p:nvPr/>
          </p:nvSpPr>
          <p:spPr>
            <a:xfrm>
              <a:off x="171287" y="-182506"/>
              <a:ext cx="5082885" cy="10196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Task: Generate complete APDL code for barrier modeling based on the user description.</a:t>
              </a:r>
            </a:p>
            <a:p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Output: Generate the COMPLETE APDL code for the barrier model described above.</a:t>
              </a:r>
            </a:p>
            <a:p>
              <a:pPr>
                <a:buNone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Requirements: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 must be complete, executable, and free of placeholders.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Include all necessary engineering modeling steps.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strict, proper APDL native commands and syntax.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Include descriptive comments explaining key operations.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Ensure the entire script is organized, indented, and readable.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82094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DB7F0-0D0A-02BD-3AE1-4E21409F1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>
            <a:extLst>
              <a:ext uri="{FF2B5EF4-FFF2-40B4-BE49-F238E27FC236}">
                <a16:creationId xmlns:a16="http://schemas.microsoft.com/office/drawing/2014/main" id="{319002ED-9AFE-D4EB-C58F-BD0855854D08}"/>
              </a:ext>
            </a:extLst>
          </p:cNvPr>
          <p:cNvGrpSpPr/>
          <p:nvPr/>
        </p:nvGrpSpPr>
        <p:grpSpPr>
          <a:xfrm>
            <a:off x="114087" y="1708817"/>
            <a:ext cx="5712250" cy="7547451"/>
            <a:chOff x="82442" y="1598507"/>
            <a:chExt cx="5235792" cy="6917918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68A28D3-D6E7-C7A9-9FEE-2DF4019808CB}"/>
                </a:ext>
              </a:extLst>
            </p:cNvPr>
            <p:cNvSpPr/>
            <p:nvPr/>
          </p:nvSpPr>
          <p:spPr>
            <a:xfrm>
              <a:off x="82442" y="1598507"/>
              <a:ext cx="5235792" cy="6917917"/>
            </a:xfrm>
            <a:prstGeom prst="rect">
              <a:avLst/>
            </a:prstGeom>
            <a:solidFill>
              <a:srgbClr val="EAF2FA">
                <a:alpha val="98000"/>
              </a:srgbClr>
            </a:solidFill>
            <a:ln>
              <a:solidFill>
                <a:srgbClr val="EAF2F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64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BE382C5-3625-A131-A16C-CA78B94CD803}"/>
                </a:ext>
              </a:extLst>
            </p:cNvPr>
            <p:cNvSpPr txBox="1"/>
            <p:nvPr/>
          </p:nvSpPr>
          <p:spPr>
            <a:xfrm>
              <a:off x="143506" y="1598507"/>
              <a:ext cx="5113664" cy="69179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None/>
              </a:pPr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I. Basic Modeling Parameters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Coordinate origin (0, 0, 0): Intersection of the vertical back face of the barrier and the top surface of the bridge deck.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Unit: millimeters (mm).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Total length (L): 15240 mm (model extends in the negative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direction).</a:t>
              </a:r>
            </a:p>
            <a:p>
              <a:pPr algn="l"/>
              <a:br>
                <a:rPr lang="en-US" altLang="zh-CN" sz="436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II. Solid Modeling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Barrier Cross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Section Profile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Connect the following vertices in sequence to form a closed polyline, then extrude it 15240 mm along the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axis: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P1: (0, 0,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P2: (0, 991,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P3: (203, 991, 0)</a:t>
              </a:r>
              <a:r>
                <a:rPr lang="en-US" altLang="zh-CN" sz="873" b="1" dirty="0"/>
                <a:t> </a:t>
              </a:r>
              <a:endParaRPr lang="en-US" altLang="zh-CN" sz="873" b="1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P4: (254, 0, 0)</a:t>
              </a:r>
            </a:p>
            <a:p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Deck Cross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Section Profile</a:t>
              </a:r>
            </a:p>
            <a:p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Connect the following vertices in sequence to form a closed polyline, then extrude it 15240 mm along the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axis: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D1: (-51, 0,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D2: (-51, -203,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D3: (5283, -203,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D4: (5283, 0, 0)</a:t>
              </a:r>
              <a:endParaRPr lang="en-US" altLang="zh-CN" sz="546" kern="1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r>
                <a:rPr lang="en-US" altLang="zh-CN" sz="436" kern="100" dirty="0">
                  <a:solidFill>
                    <a:srgbClr val="EAF2FA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III. Barrier Reinforcement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Longitudinal Rebars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All longitudinal rebars have a length of 15240 mm (extending from Z=0 to Z=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−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15240).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Left side (vertical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Initial rebar: from (71.5, 222, 0) to (71.5, 222,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Copy logic: Copy upward (positive Y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3 times at 222 mm spacing.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Right side (sloped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Positioning: Take the top rebar on the left side, copy it rightward (positive X‑axis) once at 65.23 mm spacing to obtain the starting rebar.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this starting rebar downward and rightward 3 times; displacement increment: 11.42 mm horizontally right, 222 mm vertically downward.</a:t>
              </a:r>
            </a:p>
            <a:p>
              <a:pPr algn="l">
                <a:buNone/>
              </a:pP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Barrier Stirrups</a:t>
              </a:r>
            </a:p>
            <a:p>
              <a:pPr algn="l">
                <a:buNone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Single stirrup path points: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(57, -179,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(57, 888, 0)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(151.2, 888.7, 0) </a:t>
              </a:r>
              <a:r>
                <a:rPr lang="zh-CN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—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Note: An upward convex arc shall be created between P2 and P3</a:t>
              </a:r>
            </a:p>
            <a:p>
              <a:pPr marL="78557" indent="-78557">
                <a:buFont typeface="Arial" panose="020B0604020202020204" pitchFamily="34" charset="0"/>
                <a:buChar char="•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(206.1, -179, 0)</a:t>
              </a:r>
              <a:endParaRPr lang="en-US" altLang="zh-CN" sz="873" kern="100" dirty="0">
                <a:solidFill>
                  <a:srgbClr val="000000"/>
                </a:solidFill>
                <a:latin typeface="Times New Roman" panose="02020603050405020304" pitchFamily="18" charset="0"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pPr algn="l"/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Distribution: Array along the negative Z‑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at 305 mm spacing to cover the full length.</a:t>
              </a:r>
            </a:p>
            <a:p>
              <a:r>
                <a:rPr lang="en-US" altLang="zh-CN" sz="436" kern="100" dirty="0">
                  <a:solidFill>
                    <a:srgbClr val="EAF2FA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1 1</a:t>
              </a:r>
            </a:p>
            <a:p>
              <a:pPr algn="l"/>
              <a:r>
                <a:rPr lang="en-US" altLang="zh-CN" sz="873" b="1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IV. Deck Reinforcement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1. Transverse Rebars</a:t>
              </a:r>
              <a:endParaRPr lang="en-US" altLang="zh-CN" sz="873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Left side (vertical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Initial rebar: from (71.5, 222, 0) to (71.5, 222,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Copy logic: Copy upward (positive Y‑axis) 3 times at 222 mm spacing.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Right side (sloped face) rebar array: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Positioning: Take the top rebar on the left side, copy it rightward (positive X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once at 65.23 mm spacing to obtain the starting rebar.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Upper transverse rebars: Straight line connecting (33.5, -79, 0) and (5283, -79, 0).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Lower transverse rebars: Straight line connecting (34.6, -179, 0) and (5283, -179, 0).</a:t>
              </a:r>
            </a:p>
            <a:p>
              <a:pPr algn="l"/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Distribution: Both layers arrayed along the negative Z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 at 305 mm spacing.</a:t>
              </a:r>
            </a:p>
            <a:p>
              <a:pPr algn="l"/>
              <a:r>
                <a:rPr lang="en-US" altLang="zh-CN" sz="873" u="sng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2. Longitudinal Rebars</a:t>
              </a:r>
            </a:p>
            <a:p>
              <a:pPr algn="l"/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All longitudinal rebars have a length of 15240 mm (extending from Z=0 to Z=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−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15240).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Upper longitudinal rebars: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Initial rebar: from (216.4, -93.5, 0) to (216.4, -93.5,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Copy logic: Copy rightward (positive X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16 times at 305 mm spacing.</a:t>
              </a:r>
            </a:p>
            <a:p>
              <a:pPr marL="187064" indent="-187064">
                <a:buFont typeface="Times New Roman" panose="02020603050405020304" pitchFamily="18" charset="0"/>
                <a:buChar char="○"/>
              </a:pP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Lower longitudinal rebars: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Initial rebar: from (105.5, -164.5, 0) to (105.5, -164.5, -15240)</a:t>
              </a:r>
              <a:b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Copy logic: Copy rightward (positive X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等线" panose="02010600030101010101" pitchFamily="2" charset="-122"/>
                  <a:cs typeface="Times New Roman" panose="02020603050405020304" pitchFamily="18" charset="0"/>
                </a:rPr>
                <a:t>‑</a:t>
              </a:r>
              <a:r>
                <a:rPr lang="en-US" altLang="zh-CN" sz="873" kern="100" dirty="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axis) 16 times at 305 mm spacing.</a:t>
              </a:r>
              <a:endParaRPr lang="zh-CN" altLang="zh-CN" sz="3928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42F6ADC9-334E-A87F-0FC0-2978FFCF2752}"/>
              </a:ext>
            </a:extLst>
          </p:cNvPr>
          <p:cNvGrpSpPr/>
          <p:nvPr/>
        </p:nvGrpSpPr>
        <p:grpSpPr>
          <a:xfrm>
            <a:off x="117422" y="21495"/>
            <a:ext cx="5712250" cy="1575752"/>
            <a:chOff x="82441" y="-539652"/>
            <a:chExt cx="5235792" cy="1376764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C3B6C5F-23AE-0B12-E4F0-AF8BBA0431FE}"/>
                </a:ext>
              </a:extLst>
            </p:cNvPr>
            <p:cNvSpPr/>
            <p:nvPr/>
          </p:nvSpPr>
          <p:spPr>
            <a:xfrm>
              <a:off x="82441" y="-497476"/>
              <a:ext cx="5235792" cy="1334587"/>
            </a:xfrm>
            <a:prstGeom prst="rect">
              <a:avLst/>
            </a:prstGeom>
            <a:solidFill>
              <a:srgbClr val="EAF2FA">
                <a:alpha val="98000"/>
              </a:srgbClr>
            </a:solidFill>
            <a:ln>
              <a:solidFill>
                <a:srgbClr val="EAF2F5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4">
                <a:shade val="15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964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9B8C6E9-1D06-564A-28D4-DF14CC818D4C}"/>
                </a:ext>
              </a:extLst>
            </p:cNvPr>
            <p:cNvSpPr txBox="1"/>
            <p:nvPr/>
          </p:nvSpPr>
          <p:spPr>
            <a:xfrm>
              <a:off x="171287" y="-539652"/>
              <a:ext cx="4804545" cy="35714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zh-CN" altLang="en-US" sz="1527" dirty="0"/>
                <a:t>🎯 </a:t>
              </a:r>
              <a:r>
                <a:rPr lang="en-US" altLang="zh-CN" sz="1309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User Prompt: </a:t>
              </a:r>
              <a:r>
                <a:rPr lang="en-US" altLang="zh-CN" sz="1309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Barrier &amp; Deck Modeling Specifications</a:t>
              </a:r>
              <a:endParaRPr lang="en-US" altLang="zh-CN" sz="1527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C4835241-70A4-0DFC-36F0-096910463EB3}"/>
                </a:ext>
              </a:extLst>
            </p:cNvPr>
            <p:cNvSpPr txBox="1"/>
            <p:nvPr/>
          </p:nvSpPr>
          <p:spPr>
            <a:xfrm>
              <a:off x="171287" y="-182506"/>
              <a:ext cx="5082885" cy="10196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Task: Generate complete APDL code for barrier modeling based on the user description.</a:t>
              </a:r>
            </a:p>
            <a:p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Output: Generate the COMPLETE APDL code for the barrier model described above.</a:t>
              </a:r>
            </a:p>
            <a:p>
              <a:pPr>
                <a:buNone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Requirements: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 must be complete, executable, and free of placeholders.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Include all necessary engineering modeling steps.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Apply strict, proper APDL native commands and syntax.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Include descriptive comments explaining key operations.</a:t>
              </a:r>
            </a:p>
            <a:p>
              <a:pPr marL="187064" indent="-187064">
                <a:buFont typeface="Arial" panose="020B0604020202020204" pitchFamily="34" charset="0"/>
                <a:buChar char="•"/>
              </a:pPr>
              <a:r>
                <a:rPr lang="en-US" altLang="zh-CN" sz="873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Ensure the entire script is organized, indented, and readable.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6296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58</TotalTime>
  <Words>4522</Words>
  <Application>Microsoft Office PowerPoint</Application>
  <PresentationFormat>自定义</PresentationFormat>
  <Paragraphs>247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泉凯 王</dc:creator>
  <cp:lastModifiedBy>泉凯 王</cp:lastModifiedBy>
  <cp:revision>3</cp:revision>
  <dcterms:created xsi:type="dcterms:W3CDTF">2026-06-01T06:26:13Z</dcterms:created>
  <dcterms:modified xsi:type="dcterms:W3CDTF">2026-06-01T07:24:58Z</dcterms:modified>
</cp:coreProperties>
</file>